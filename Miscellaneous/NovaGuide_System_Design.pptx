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C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24128" y="283464"/>
            <a:ext cx="10515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 architecture: safety-gated by design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033272" y="731520"/>
            <a:ext cx="10332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D98"/>
                </a:solidFill>
              </a:rPr>
              <a:t>E orchestrates; C controls the permitted action; B and D supply bounded information only.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1033272"/>
            <a:ext cx="11183112" cy="0"/>
          </a:xfrm>
          <a:prstGeom prst="line">
            <a:avLst/>
          </a:prstGeom>
          <a:noFill/>
          <a:ln w="12700">
            <a:solidFill>
              <a:srgbClr val="C5D2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27D98"/>
                </a:solidFill>
              </a:rPr>
              <a:t>NovaGuide · Synthetic banking-service agent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109960" y="651052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D98"/>
                </a:solidFill>
              </a:rPr>
              <a:t>1 / 3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94360" y="1508760"/>
            <a:ext cx="1554480" cy="786384"/>
          </a:xfrm>
          <a:prstGeom prst="roundRect">
            <a:avLst>
              <a:gd name="adj" fmla="val 8140"/>
            </a:avLst>
          </a:prstGeom>
          <a:solidFill>
            <a:srgbClr val="E6FFFB"/>
          </a:solidFill>
          <a:ln w="16510">
            <a:solidFill>
              <a:srgbClr val="00A6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1618488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6A6"/>
                </a:solidFill>
              </a:rPr>
              <a:t>Browser UI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04088" y="1892808"/>
            <a:ext cx="1335024" cy="3291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1F2933"/>
                </a:solidFill>
              </a:rPr>
              <a:t>Text chat · evidence view</a:t>
            </a:r>
            <a:endParaRPr lang="en-US" sz="930" dirty="0"/>
          </a:p>
          <a:p>
            <a:pPr algn="ctr" indent="0" marL="0">
              <a:buNone/>
            </a:pPr>
            <a:r>
              <a:rPr lang="en-US" sz="930" dirty="0">
                <a:solidFill>
                  <a:srgbClr val="1F2933"/>
                </a:solidFill>
              </a:rPr>
              <a:t>Optional voice button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594360" y="2743200"/>
            <a:ext cx="1554480" cy="731520"/>
          </a:xfrm>
          <a:prstGeom prst="roundRect">
            <a:avLst>
              <a:gd name="adj" fmla="val 8750"/>
            </a:avLst>
          </a:prstGeom>
          <a:solidFill>
            <a:srgbClr val="EEF6FF"/>
          </a:solidFill>
          <a:ln w="16510">
            <a:solidFill>
              <a:srgbClr val="4865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852928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86581"/>
                </a:solidFill>
              </a:rPr>
              <a:t>Local ASR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04088" y="3127248"/>
            <a:ext cx="1335024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1F2933"/>
                </a:solidFill>
              </a:rPr>
              <a:t>Optional whisper.cpp</a:t>
            </a:r>
            <a:endParaRPr lang="en-US" sz="930" dirty="0"/>
          </a:p>
          <a:p>
            <a:pPr algn="ctr" indent="0" marL="0">
              <a:buNone/>
            </a:pPr>
            <a:r>
              <a:rPr lang="en-US" sz="930" dirty="0">
                <a:solidFill>
                  <a:srgbClr val="1F2933"/>
                </a:solidFill>
              </a:rPr>
              <a:t>voice-to-text only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2578608" y="2084832"/>
            <a:ext cx="1783080" cy="914400"/>
          </a:xfrm>
          <a:prstGeom prst="roundRect">
            <a:avLst>
              <a:gd name="adj" fmla="val 7000"/>
            </a:avLst>
          </a:prstGeom>
          <a:solidFill>
            <a:srgbClr val="EEF6FF"/>
          </a:solidFill>
          <a:ln w="16510">
            <a:solidFill>
              <a:srgbClr val="4865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97480" y="2194560"/>
            <a:ext cx="1545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86581"/>
                </a:solidFill>
              </a:rPr>
              <a:t>API + SQLite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688336" y="2468880"/>
            <a:ext cx="1563624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1F2933"/>
                </a:solidFill>
              </a:rPr>
              <a:t>Synthetic accounts</a:t>
            </a:r>
            <a:endParaRPr lang="en-US" sz="930" dirty="0"/>
          </a:p>
          <a:p>
            <a:pPr algn="ctr" indent="0" marL="0">
              <a:buNone/>
            </a:pPr>
            <a:r>
              <a:rPr lang="en-US" sz="930" dirty="0">
                <a:solidFill>
                  <a:srgbClr val="1F2933"/>
                </a:solidFill>
              </a:rPr>
              <a:t>sessions &amp; conversations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4800600" y="2084832"/>
            <a:ext cx="1783080" cy="914400"/>
          </a:xfrm>
          <a:prstGeom prst="roundRect">
            <a:avLst>
              <a:gd name="adj" fmla="val 7000"/>
            </a:avLst>
          </a:prstGeom>
          <a:solidFill>
            <a:srgbClr val="FFF7E6"/>
          </a:solidFill>
          <a:ln w="1651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9472" y="2194560"/>
            <a:ext cx="1545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E Orchestrator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10328" y="2468880"/>
            <a:ext cx="1563624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1F2933"/>
                </a:solidFill>
              </a:rPr>
              <a:t>Shared state, call order,</a:t>
            </a:r>
            <a:endParaRPr lang="en-US" sz="930" dirty="0"/>
          </a:p>
          <a:p>
            <a:pPr algn="ctr" indent="0" marL="0">
              <a:buNone/>
            </a:pPr>
            <a:r>
              <a:rPr lang="en-US" sz="930" dirty="0">
                <a:solidFill>
                  <a:srgbClr val="1F2933"/>
                </a:solidFill>
              </a:rPr>
              <a:t>trace and safe fallback</a:t>
            </a:r>
            <a:endParaRPr lang="en-US" sz="930" dirty="0"/>
          </a:p>
        </p:txBody>
      </p:sp>
      <p:sp>
        <p:nvSpPr>
          <p:cNvPr id="21" name="Shape 19"/>
          <p:cNvSpPr/>
          <p:nvPr/>
        </p:nvSpPr>
        <p:spPr>
          <a:xfrm>
            <a:off x="7068312" y="1261872"/>
            <a:ext cx="1417320" cy="841248"/>
          </a:xfrm>
          <a:prstGeom prst="roundRect">
            <a:avLst>
              <a:gd name="adj" fmla="val 7609"/>
            </a:avLst>
          </a:prstGeom>
          <a:solidFill>
            <a:srgbClr val="E6FFFB"/>
          </a:solidFill>
          <a:ln w="16510">
            <a:solidFill>
              <a:srgbClr val="007C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87184" y="1371600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7C7C"/>
                </a:solidFill>
              </a:rPr>
              <a:t>A · Understand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178040" y="1645920"/>
            <a:ext cx="1197864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1F2933"/>
                </a:solidFill>
              </a:rPr>
              <a:t>Intent</a:t>
            </a:r>
            <a:endParaRPr lang="en-US" sz="930" dirty="0"/>
          </a:p>
          <a:p>
            <a:pPr algn="ctr" indent="0" marL="0">
              <a:buNone/>
            </a:pPr>
            <a:r>
              <a:rPr lang="en-US" sz="930" dirty="0">
                <a:solidFill>
                  <a:srgbClr val="1F2933"/>
                </a:solidFill>
              </a:rPr>
              <a:t>confidence · risk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7068312" y="2953512"/>
            <a:ext cx="1417320" cy="841248"/>
          </a:xfrm>
          <a:prstGeom prst="roundRect">
            <a:avLst>
              <a:gd name="adj" fmla="val 7609"/>
            </a:avLst>
          </a:prstGeom>
          <a:solidFill>
            <a:srgbClr val="FFF0F0"/>
          </a:solidFill>
          <a:ln w="16510">
            <a:solidFill>
              <a:srgbClr val="D645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87184" y="3063240"/>
            <a:ext cx="1179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64545"/>
                </a:solidFill>
              </a:rPr>
              <a:t>C · Rules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178040" y="3337560"/>
            <a:ext cx="1197864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1F2933"/>
                </a:solidFill>
              </a:rPr>
              <a:t>Safety gate</a:t>
            </a:r>
            <a:endParaRPr lang="en-US" sz="930" dirty="0"/>
          </a:p>
          <a:p>
            <a:pPr algn="ctr" indent="0" marL="0">
              <a:buNone/>
            </a:pPr>
            <a:r>
              <a:rPr lang="en-US" sz="930" dirty="0">
                <a:solidFill>
                  <a:srgbClr val="1F2933"/>
                </a:solidFill>
              </a:rPr>
              <a:t>state transitions</a:t>
            </a:r>
            <a:endParaRPr lang="en-US" sz="930" dirty="0"/>
          </a:p>
        </p:txBody>
      </p:sp>
      <p:sp>
        <p:nvSpPr>
          <p:cNvPr id="27" name="Shape 25"/>
          <p:cNvSpPr/>
          <p:nvPr/>
        </p:nvSpPr>
        <p:spPr>
          <a:xfrm>
            <a:off x="9144000" y="1261872"/>
            <a:ext cx="1554480" cy="841248"/>
          </a:xfrm>
          <a:prstGeom prst="roundRect">
            <a:avLst>
              <a:gd name="adj" fmla="val 7609"/>
            </a:avLst>
          </a:prstGeom>
          <a:solidFill>
            <a:srgbClr val="E6FFFB"/>
          </a:solidFill>
          <a:ln w="16510">
            <a:solidFill>
              <a:srgbClr val="007C7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62872" y="1371600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7C7C"/>
                </a:solidFill>
              </a:rPr>
              <a:t>B · Retrieval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253728" y="1645920"/>
            <a:ext cx="1335024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1F2933"/>
                </a:solidFill>
              </a:rPr>
              <a:t>BM25 + reranker</a:t>
            </a:r>
            <a:endParaRPr lang="en-US" sz="930" dirty="0"/>
          </a:p>
          <a:p>
            <a:pPr algn="ctr" indent="0" marL="0">
              <a:buNone/>
            </a:pPr>
            <a:r>
              <a:rPr lang="en-US" sz="930" dirty="0">
                <a:solidFill>
                  <a:srgbClr val="1F2933"/>
                </a:solidFill>
              </a:rPr>
              <a:t>policy candidates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9144000" y="2953512"/>
            <a:ext cx="1554480" cy="841248"/>
          </a:xfrm>
          <a:prstGeom prst="roundRect">
            <a:avLst>
              <a:gd name="adj" fmla="val 7609"/>
            </a:avLst>
          </a:prstGeom>
          <a:solidFill>
            <a:srgbClr val="EAF8F0"/>
          </a:solidFill>
          <a:ln w="16510">
            <a:solidFill>
              <a:srgbClr val="167D4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262872" y="3063240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7D4D"/>
                </a:solidFill>
              </a:rPr>
              <a:t>D · Recommend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253728" y="3337560"/>
            <a:ext cx="1335024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1F2933"/>
                </a:solidFill>
              </a:rPr>
              <a:t>Eligibility</a:t>
            </a:r>
            <a:endParaRPr lang="en-US" sz="930" dirty="0"/>
          </a:p>
          <a:p>
            <a:pPr algn="ctr" indent="0" marL="0">
              <a:buNone/>
            </a:pPr>
            <a:r>
              <a:rPr lang="en-US" sz="930" dirty="0">
                <a:solidFill>
                  <a:srgbClr val="1F2933"/>
                </a:solidFill>
              </a:rPr>
              <a:t>and ranking</a:t>
            </a:r>
            <a:endParaRPr lang="en-US" sz="930" dirty="0"/>
          </a:p>
        </p:txBody>
      </p:sp>
      <p:sp>
        <p:nvSpPr>
          <p:cNvPr id="33" name="Shape 31"/>
          <p:cNvSpPr/>
          <p:nvPr/>
        </p:nvSpPr>
        <p:spPr>
          <a:xfrm>
            <a:off x="9217152" y="4617720"/>
            <a:ext cx="1508760" cy="749808"/>
          </a:xfrm>
          <a:prstGeom prst="roundRect">
            <a:avLst>
              <a:gd name="adj" fmla="val 8537"/>
            </a:avLst>
          </a:prstGeom>
          <a:solidFill>
            <a:srgbClr val="EEF6FF"/>
          </a:solidFill>
          <a:ln w="16510">
            <a:solidFill>
              <a:srgbClr val="102A4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336024" y="4727448"/>
            <a:ext cx="1271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A43"/>
                </a:solidFill>
              </a:rPr>
              <a:t>Safe response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326880" y="5001768"/>
            <a:ext cx="1289304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930" dirty="0">
                <a:solidFill>
                  <a:srgbClr val="1F2933"/>
                </a:solidFill>
              </a:rPr>
              <a:t>Citations, guidance,</a:t>
            </a:r>
            <a:endParaRPr lang="en-US" sz="930" dirty="0"/>
          </a:p>
          <a:p>
            <a:pPr algn="ctr" indent="0" marL="0">
              <a:buNone/>
            </a:pPr>
            <a:r>
              <a:rPr lang="en-US" sz="930" dirty="0">
                <a:solidFill>
                  <a:srgbClr val="1F2933"/>
                </a:solidFill>
              </a:rPr>
              <a:t>clarify or abstain</a:t>
            </a:r>
            <a:endParaRPr lang="en-US" sz="930" dirty="0"/>
          </a:p>
        </p:txBody>
      </p:sp>
      <p:sp>
        <p:nvSpPr>
          <p:cNvPr id="36" name="Shape 34"/>
          <p:cNvSpPr/>
          <p:nvPr/>
        </p:nvSpPr>
        <p:spPr>
          <a:xfrm>
            <a:off x="2148840" y="1901952"/>
            <a:ext cx="429768" cy="493776"/>
          </a:xfrm>
          <a:prstGeom prst="line">
            <a:avLst/>
          </a:prstGeom>
          <a:noFill/>
          <a:ln w="20320">
            <a:solidFill>
              <a:srgbClr val="486581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1371600" y="2743200"/>
            <a:ext cx="0" cy="-448056"/>
          </a:xfrm>
          <a:prstGeom prst="line">
            <a:avLst/>
          </a:prstGeom>
          <a:noFill/>
          <a:ln w="15240">
            <a:solidFill>
              <a:srgbClr val="486581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4361688" y="2542032"/>
            <a:ext cx="438912" cy="0"/>
          </a:xfrm>
          <a:prstGeom prst="line">
            <a:avLst/>
          </a:prstGeom>
          <a:noFill/>
          <a:ln w="20320">
            <a:solidFill>
              <a:srgbClr val="486581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6583680" y="2395728"/>
            <a:ext cx="484632" cy="-713232"/>
          </a:xfrm>
          <a:prstGeom prst="line">
            <a:avLst/>
          </a:prstGeom>
          <a:noFill/>
          <a:ln w="15875">
            <a:solidFill>
              <a:srgbClr val="486581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6583680" y="2697480"/>
            <a:ext cx="484632" cy="667512"/>
          </a:xfrm>
          <a:prstGeom prst="line">
            <a:avLst/>
          </a:prstGeom>
          <a:noFill/>
          <a:ln w="15875">
            <a:solidFill>
              <a:srgbClr val="486581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8485632" y="1682496"/>
            <a:ext cx="658368" cy="0"/>
          </a:xfrm>
          <a:prstGeom prst="line">
            <a:avLst/>
          </a:prstGeom>
          <a:noFill/>
          <a:ln w="15875">
            <a:solidFill>
              <a:srgbClr val="486581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8485632" y="3364992"/>
            <a:ext cx="658368" cy="0"/>
          </a:xfrm>
          <a:prstGeom prst="line">
            <a:avLst/>
          </a:prstGeom>
          <a:noFill/>
          <a:ln w="15875">
            <a:solidFill>
              <a:srgbClr val="486581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9921240" y="2103120"/>
            <a:ext cx="-2148840" cy="850392"/>
          </a:xfrm>
          <a:prstGeom prst="line">
            <a:avLst/>
          </a:prstGeom>
          <a:noFill/>
          <a:ln w="14605">
            <a:solidFill>
              <a:srgbClr val="007C7C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7772400" y="3794760"/>
            <a:ext cx="2103120" cy="822960"/>
          </a:xfrm>
          <a:prstGeom prst="line">
            <a:avLst/>
          </a:prstGeom>
          <a:noFill/>
          <a:ln w="17145">
            <a:solidFill>
              <a:srgbClr val="D64545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9921240" y="3794760"/>
            <a:ext cx="0" cy="822960"/>
          </a:xfrm>
          <a:prstGeom prst="line">
            <a:avLst/>
          </a:prstGeom>
          <a:noFill/>
          <a:ln w="14605">
            <a:solidFill>
              <a:srgbClr val="167D4D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658368" y="4389120"/>
            <a:ext cx="7571232" cy="1069848"/>
          </a:xfrm>
          <a:prstGeom prst="roundRect">
            <a:avLst>
              <a:gd name="adj" fmla="val 5128"/>
            </a:avLst>
          </a:prstGeom>
          <a:solidFill>
            <a:srgbClr val="F7FAFC"/>
          </a:solidFill>
          <a:ln w="10160">
            <a:solidFill>
              <a:srgbClr val="C5D2D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77824" y="458114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</a:rPr>
              <a:t>Design principle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965960" y="4535424"/>
            <a:ext cx="5989320" cy="3931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</a:rPr>
              <a:t>C is invoked before retrieval and again after retrieval.  B cannot turn a plausible document into an answer, and D cannot offer a product without C permission.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877824" y="5010912"/>
            <a:ext cx="6903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i="1" dirty="0">
                <a:solidFill>
                  <a:srgbClr val="627D98"/>
                </a:solidFill>
              </a:rPr>
              <a:t>Optional LLM helpers may rewrite or render text, but cannot select an action, change state, approve evidence or execute operations.</a:t>
            </a:r>
            <a:endParaRPr lang="en-US" sz="9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C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24128" y="283464"/>
            <a:ext cx="10515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End-to-end decision paths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033272" y="731520"/>
            <a:ext cx="10332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D98"/>
                </a:solidFill>
              </a:rPr>
              <a:t>Every request terminates in a controlled outcome; the rule engine owns the routing decision.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1033272"/>
            <a:ext cx="11183112" cy="0"/>
          </a:xfrm>
          <a:prstGeom prst="line">
            <a:avLst/>
          </a:prstGeom>
          <a:noFill/>
          <a:ln w="12700">
            <a:solidFill>
              <a:srgbClr val="C5D2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27D98"/>
                </a:solidFill>
              </a:rPr>
              <a:t>NovaGuide · Synthetic banking-service agent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109960" y="651052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D98"/>
                </a:solidFill>
              </a:rPr>
              <a:t>2 / 3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94360" y="1353312"/>
            <a:ext cx="5340096" cy="950976"/>
          </a:xfrm>
          <a:prstGeom prst="roundRect">
            <a:avLst>
              <a:gd name="adj" fmla="val 4808"/>
            </a:avLst>
          </a:prstGeom>
          <a:solidFill>
            <a:srgbClr val="E6FFFB"/>
          </a:solidFill>
          <a:ln w="13970">
            <a:solidFill>
              <a:srgbClr val="007C7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1353312"/>
            <a:ext cx="118872" cy="950976"/>
          </a:xfrm>
          <a:prstGeom prst="rect">
            <a:avLst/>
          </a:prstGeom>
          <a:solidFill>
            <a:srgbClr val="007C7C"/>
          </a:solidFill>
          <a:ln w="12700">
            <a:solidFill>
              <a:srgbClr val="007C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150876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b="1" dirty="0">
                <a:solidFill>
                  <a:srgbClr val="007C7C"/>
                </a:solidFill>
              </a:rPr>
              <a:t>Grounded answer</a:t>
            </a:r>
            <a:endParaRPr lang="en-US" sz="1070" dirty="0"/>
          </a:p>
        </p:txBody>
      </p:sp>
      <p:sp>
        <p:nvSpPr>
          <p:cNvPr id="12" name="Text 10"/>
          <p:cNvSpPr/>
          <p:nvPr/>
        </p:nvSpPr>
        <p:spPr>
          <a:xfrm>
            <a:off x="2258568" y="1472184"/>
            <a:ext cx="3401568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F2933"/>
                </a:solidFill>
              </a:rPr>
              <a:t>A → C permits retrieval → B returns policy candidates → C validates evidence → cited answer.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594360" y="2542032"/>
            <a:ext cx="5340096" cy="950976"/>
          </a:xfrm>
          <a:prstGeom prst="roundRect">
            <a:avLst>
              <a:gd name="adj" fmla="val 4808"/>
            </a:avLst>
          </a:prstGeom>
          <a:solidFill>
            <a:srgbClr val="FFF7E6"/>
          </a:solidFill>
          <a:ln w="1397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2542032"/>
            <a:ext cx="118872" cy="9509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269748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b="1" dirty="0">
                <a:solidFill>
                  <a:srgbClr val="F59E0B"/>
                </a:solidFill>
              </a:rPr>
              <a:t>Clarification</a:t>
            </a:r>
            <a:endParaRPr lang="en-US" sz="1070" dirty="0"/>
          </a:p>
        </p:txBody>
      </p:sp>
      <p:sp>
        <p:nvSpPr>
          <p:cNvPr id="16" name="Text 14"/>
          <p:cNvSpPr/>
          <p:nvPr/>
        </p:nvSpPr>
        <p:spPr>
          <a:xfrm>
            <a:off x="2258568" y="2660904"/>
            <a:ext cx="3401568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F2933"/>
                </a:solidFill>
              </a:rPr>
              <a:t>Missing context, weak confidence, unknown intent/risk, or a missing replacement reason asks one focused question.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594360" y="3730752"/>
            <a:ext cx="5340096" cy="950976"/>
          </a:xfrm>
          <a:prstGeom prst="roundRect">
            <a:avLst>
              <a:gd name="adj" fmla="val 4808"/>
            </a:avLst>
          </a:prstGeom>
          <a:solidFill>
            <a:srgbClr val="EEF6FF"/>
          </a:solidFill>
          <a:ln w="13970">
            <a:solidFill>
              <a:srgbClr val="48658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" y="3730752"/>
            <a:ext cx="118872" cy="950976"/>
          </a:xfrm>
          <a:prstGeom prst="rect">
            <a:avLst/>
          </a:prstGeom>
          <a:solidFill>
            <a:srgbClr val="486581"/>
          </a:solidFill>
          <a:ln w="12700">
            <a:solidFill>
              <a:srgbClr val="4865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0392" y="388620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b="1" dirty="0">
                <a:solidFill>
                  <a:srgbClr val="486581"/>
                </a:solidFill>
              </a:rPr>
              <a:t>Abstention</a:t>
            </a:r>
            <a:endParaRPr lang="en-US" sz="1070" dirty="0"/>
          </a:p>
        </p:txBody>
      </p:sp>
      <p:sp>
        <p:nvSpPr>
          <p:cNvPr id="20" name="Text 18"/>
          <p:cNvSpPr/>
          <p:nvPr/>
        </p:nvSpPr>
        <p:spPr>
          <a:xfrm>
            <a:off x="2258568" y="3849624"/>
            <a:ext cx="3401568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F2933"/>
                </a:solidFill>
              </a:rPr>
              <a:t>Retrieval failure, no documents, or insufficient evidence returns a safe non-answer rather than a guess.</a:t>
            </a:r>
            <a:endParaRPr lang="en-US" sz="930" dirty="0"/>
          </a:p>
        </p:txBody>
      </p:sp>
      <p:sp>
        <p:nvSpPr>
          <p:cNvPr id="21" name="Shape 19"/>
          <p:cNvSpPr/>
          <p:nvPr/>
        </p:nvSpPr>
        <p:spPr>
          <a:xfrm>
            <a:off x="594360" y="4919472"/>
            <a:ext cx="5340096" cy="950976"/>
          </a:xfrm>
          <a:prstGeom prst="roundRect">
            <a:avLst>
              <a:gd name="adj" fmla="val 4808"/>
            </a:avLst>
          </a:prstGeom>
          <a:solidFill>
            <a:srgbClr val="FFF0F0"/>
          </a:solidFill>
          <a:ln w="13970">
            <a:solidFill>
              <a:srgbClr val="D6454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4919472"/>
            <a:ext cx="118872" cy="950976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392" y="507492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b="1" dirty="0">
                <a:solidFill>
                  <a:srgbClr val="D64545"/>
                </a:solidFill>
              </a:rPr>
              <a:t>Complaint handling</a:t>
            </a:r>
            <a:endParaRPr lang="en-US" sz="1070" dirty="0"/>
          </a:p>
        </p:txBody>
      </p:sp>
      <p:sp>
        <p:nvSpPr>
          <p:cNvPr id="24" name="Text 22"/>
          <p:cNvSpPr/>
          <p:nvPr/>
        </p:nvSpPr>
        <p:spPr>
          <a:xfrm>
            <a:off x="2258568" y="5038344"/>
            <a:ext cx="3401568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F2933"/>
                </a:solidFill>
              </a:rPr>
              <a:t>A complaint is recorded and its simulated lifecycle state is updated instead of entering ordinary retrieval.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6236208" y="1353312"/>
            <a:ext cx="5340096" cy="950976"/>
          </a:xfrm>
          <a:prstGeom prst="roundRect">
            <a:avLst>
              <a:gd name="adj" fmla="val 4808"/>
            </a:avLst>
          </a:prstGeom>
          <a:solidFill>
            <a:srgbClr val="FFF0F0"/>
          </a:solidFill>
          <a:ln w="13970">
            <a:solidFill>
              <a:srgbClr val="D6454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36208" y="1353312"/>
            <a:ext cx="118872" cy="950976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2240" y="150876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b="1" dirty="0">
                <a:solidFill>
                  <a:srgbClr val="D64545"/>
                </a:solidFill>
              </a:rPr>
              <a:t>Escalation</a:t>
            </a:r>
            <a:endParaRPr lang="en-US" sz="1070" dirty="0"/>
          </a:p>
        </p:txBody>
      </p:sp>
      <p:sp>
        <p:nvSpPr>
          <p:cNvPr id="28" name="Text 26"/>
          <p:cNvSpPr/>
          <p:nvPr/>
        </p:nvSpPr>
        <p:spPr>
          <a:xfrm>
            <a:off x="7900416" y="1472184"/>
            <a:ext cx="3401568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F2933"/>
                </a:solidFill>
              </a:rPr>
              <a:t>An urgent risk report or an already-active handoff routes to simulated human assistance.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6236208" y="2542032"/>
            <a:ext cx="5340096" cy="950976"/>
          </a:xfrm>
          <a:prstGeom prst="roundRect">
            <a:avLst>
              <a:gd name="adj" fmla="val 4808"/>
            </a:avLst>
          </a:prstGeom>
          <a:solidFill>
            <a:srgbClr val="EAF8F0"/>
          </a:solidFill>
          <a:ln w="13970">
            <a:solidFill>
              <a:srgbClr val="167D4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36208" y="2542032"/>
            <a:ext cx="118872" cy="950976"/>
          </a:xfrm>
          <a:prstGeom prst="rect">
            <a:avLst/>
          </a:prstGeom>
          <a:solidFill>
            <a:srgbClr val="167D4D"/>
          </a:solidFill>
          <a:ln w="12700">
            <a:solidFill>
              <a:srgbClr val="167D4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92240" y="269748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b="1" dirty="0">
                <a:solidFill>
                  <a:srgbClr val="167D4D"/>
                </a:solidFill>
              </a:rPr>
              <a:t>Recommendation</a:t>
            </a:r>
            <a:endParaRPr lang="en-US" sz="1070" dirty="0"/>
          </a:p>
        </p:txBody>
      </p:sp>
      <p:sp>
        <p:nvSpPr>
          <p:cNvPr id="32" name="Text 30"/>
          <p:cNvSpPr/>
          <p:nvPr/>
        </p:nvSpPr>
        <p:spPr>
          <a:xfrm>
            <a:off x="7900416" y="2660904"/>
            <a:ext cx="3401568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F2933"/>
                </a:solidFill>
              </a:rPr>
              <a:t>Only low-risk users with consent, no open complaint and no handoff can reach D for eligibility and ranking.</a:t>
            </a:r>
            <a:endParaRPr lang="en-US" sz="930" dirty="0"/>
          </a:p>
        </p:txBody>
      </p:sp>
      <p:sp>
        <p:nvSpPr>
          <p:cNvPr id="33" name="Shape 31"/>
          <p:cNvSpPr/>
          <p:nvPr/>
        </p:nvSpPr>
        <p:spPr>
          <a:xfrm>
            <a:off x="6236208" y="3730752"/>
            <a:ext cx="5340096" cy="950976"/>
          </a:xfrm>
          <a:prstGeom prst="roundRect">
            <a:avLst>
              <a:gd name="adj" fmla="val 4808"/>
            </a:avLst>
          </a:prstGeom>
          <a:solidFill>
            <a:srgbClr val="EEF6FF"/>
          </a:solidFill>
          <a:ln w="13970">
            <a:solidFill>
              <a:srgbClr val="102A4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36208" y="3730752"/>
            <a:ext cx="118872" cy="95097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92240" y="388620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b="1" dirty="0">
                <a:solidFill>
                  <a:srgbClr val="102A43"/>
                </a:solidFill>
              </a:rPr>
              <a:t>Blocked operation</a:t>
            </a:r>
            <a:endParaRPr lang="en-US" sz="1070" dirty="0"/>
          </a:p>
        </p:txBody>
      </p:sp>
      <p:sp>
        <p:nvSpPr>
          <p:cNvPr id="36" name="Text 34"/>
          <p:cNvSpPr/>
          <p:nvPr/>
        </p:nvSpPr>
        <p:spPr>
          <a:xfrm>
            <a:off x="7900416" y="3849624"/>
            <a:ext cx="3401568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F2933"/>
                </a:solidFill>
              </a:rPr>
              <a:t>Unauthenticated account access, unsupported transactions, and ineligible recommendations are stopped early.</a:t>
            </a:r>
            <a:endParaRPr lang="en-US" sz="930" dirty="0"/>
          </a:p>
        </p:txBody>
      </p:sp>
      <p:sp>
        <p:nvSpPr>
          <p:cNvPr id="37" name="Shape 35"/>
          <p:cNvSpPr/>
          <p:nvPr/>
        </p:nvSpPr>
        <p:spPr>
          <a:xfrm>
            <a:off x="6236208" y="4919472"/>
            <a:ext cx="5340096" cy="950976"/>
          </a:xfrm>
          <a:prstGeom prst="roundRect">
            <a:avLst>
              <a:gd name="adj" fmla="val 4808"/>
            </a:avLst>
          </a:prstGeom>
          <a:solidFill>
            <a:srgbClr val="F7FAFC"/>
          </a:solidFill>
          <a:ln w="13970">
            <a:solidFill>
              <a:srgbClr val="48658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36208" y="4919472"/>
            <a:ext cx="118872" cy="950976"/>
          </a:xfrm>
          <a:prstGeom prst="rect">
            <a:avLst/>
          </a:prstGeom>
          <a:solidFill>
            <a:srgbClr val="486581"/>
          </a:solidFill>
          <a:ln w="12700">
            <a:solidFill>
              <a:srgbClr val="48658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92240" y="507492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b="1" dirty="0">
                <a:solidFill>
                  <a:srgbClr val="486581"/>
                </a:solidFill>
              </a:rPr>
              <a:t>Technical failure</a:t>
            </a:r>
            <a:endParaRPr lang="en-US" sz="1070" dirty="0"/>
          </a:p>
        </p:txBody>
      </p:sp>
      <p:sp>
        <p:nvSpPr>
          <p:cNvPr id="40" name="Text 38"/>
          <p:cNvSpPr/>
          <p:nvPr/>
        </p:nvSpPr>
        <p:spPr>
          <a:xfrm>
            <a:off x="7900416" y="5038344"/>
            <a:ext cx="3401568" cy="5029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1F2933"/>
                </a:solidFill>
              </a:rPr>
              <a:t>A failed module call gives a safe error response and creates a sanitized decision trace.</a:t>
            </a:r>
            <a:endParaRPr lang="en-US" sz="930" dirty="0"/>
          </a:p>
        </p:txBody>
      </p:sp>
      <p:sp>
        <p:nvSpPr>
          <p:cNvPr id="41" name="Shape 39"/>
          <p:cNvSpPr/>
          <p:nvPr/>
        </p:nvSpPr>
        <p:spPr>
          <a:xfrm>
            <a:off x="1060704" y="6172200"/>
            <a:ext cx="10058400" cy="256032"/>
          </a:xfrm>
          <a:prstGeom prst="roundRect">
            <a:avLst>
              <a:gd name="adj" fmla="val 14286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234440" y="6217920"/>
            <a:ext cx="97109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</a:rPr>
              <a:t>Key control: B provides candidates, D provides products, and optional LLMs provide language — only C decides the allowed business action.</a:t>
            </a:r>
            <a:endParaRPr lang="en-US" sz="9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4747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C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24128" y="283464"/>
            <a:ext cx="10515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Demonstration boundary and engineering controls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1033272" y="731520"/>
            <a:ext cx="10332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7D98"/>
                </a:solidFill>
              </a:rPr>
              <a:t>A local prototype designed to make its capabilities, evidence and limitations visible.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1033272"/>
            <a:ext cx="11183112" cy="0"/>
          </a:xfrm>
          <a:prstGeom prst="line">
            <a:avLst/>
          </a:prstGeom>
          <a:noFill/>
          <a:ln w="12700">
            <a:solidFill>
              <a:srgbClr val="C5D2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65105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27D98"/>
                </a:solidFill>
              </a:rPr>
              <a:t>NovaGuide · Synthetic banking-service agent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109960" y="651052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27D98"/>
                </a:solidFill>
              </a:rPr>
              <a:t>3 / 3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77240" y="1481328"/>
            <a:ext cx="5047488" cy="1389888"/>
          </a:xfrm>
          <a:prstGeom prst="roundRect">
            <a:avLst>
              <a:gd name="adj" fmla="val 4605"/>
            </a:avLst>
          </a:prstGeom>
          <a:solidFill>
            <a:srgbClr val="E6FFFB"/>
          </a:solidFill>
          <a:ln w="15240">
            <a:solidFill>
              <a:srgbClr val="00A6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3272" y="1719072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6A6"/>
                </a:solidFill>
              </a:rPr>
              <a:t>Local, synthetic demo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33272" y="2112264"/>
            <a:ext cx="4462272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</a:rPr>
              <a:t>Browser application, synthetic profiles and local SQLite storage only; no connection to a banking system.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355080" y="1481328"/>
            <a:ext cx="5047488" cy="1389888"/>
          </a:xfrm>
          <a:prstGeom prst="roundRect">
            <a:avLst>
              <a:gd name="adj" fmla="val 4605"/>
            </a:avLst>
          </a:prstGeom>
          <a:solidFill>
            <a:srgbClr val="EEF6FF"/>
          </a:solidFill>
          <a:ln w="15240">
            <a:solidFill>
              <a:srgbClr val="102A4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11112" y="1719072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</a:rPr>
              <a:t>Evidence visible to users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611112" y="2112264"/>
            <a:ext cx="4462272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</a:rPr>
              <a:t>Grounded answers expose policy excerpts and citation identifiers through the View evidence interface.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77240" y="3383280"/>
            <a:ext cx="5047488" cy="1389888"/>
          </a:xfrm>
          <a:prstGeom prst="roundRect">
            <a:avLst>
              <a:gd name="adj" fmla="val 4605"/>
            </a:avLst>
          </a:prstGeom>
          <a:solidFill>
            <a:srgbClr val="FFF7E6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33272" y="3621024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</a:rPr>
              <a:t>Optional local ASR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33272" y="4014216"/>
            <a:ext cx="4462272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</a:rPr>
              <a:t>Short WAV input is transcribed locally, then deleted; an editable transcript must be confirmed before use.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355080" y="3383280"/>
            <a:ext cx="5047488" cy="1389888"/>
          </a:xfrm>
          <a:prstGeom prst="roundRect">
            <a:avLst>
              <a:gd name="adj" fmla="val 4605"/>
            </a:avLst>
          </a:prstGeom>
          <a:solidFill>
            <a:srgbClr val="EAF8F0"/>
          </a:solidFill>
          <a:ln w="15240">
            <a:solidFill>
              <a:srgbClr val="167D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11112" y="3621024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7D4D"/>
                </a:solidFill>
              </a:rPr>
              <a:t>Observability and testability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611112" y="4014216"/>
            <a:ext cx="4462272" cy="438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F2933"/>
                </a:solidFill>
              </a:rPr>
              <a:t>Sanitized decision traces and unit, integration and end-to-end tests make routing behaviour inspectable.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161288" y="5486400"/>
            <a:ext cx="9875520" cy="548640"/>
          </a:xfrm>
          <a:prstGeom prst="roundRect">
            <a:avLst>
              <a:gd name="adj" fmla="val 11667"/>
            </a:avLst>
          </a:prstGeom>
          <a:solidFill>
            <a:srgbClr val="FFF0F0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89888" y="5669280"/>
            <a:ext cx="9418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64545"/>
                </a:solidFill>
              </a:rPr>
              <a:t>Safety boundary: NovaGuide does not execute transactions, access real accounts, or make binding financial decisions.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IRS Banking Voice Agent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NovaGuide System Design</dc:title>
  <dc:subject>System design overview</dc:subject>
  <dc:creator>NovaGuide Team</dc:creator>
  <cp:lastModifiedBy>NovaGuide Team</cp:lastModifiedBy>
  <cp:revision>1</cp:revision>
  <dcterms:created xsi:type="dcterms:W3CDTF">2026-10-25T06:29:48Z</dcterms:created>
  <dcterms:modified xsi:type="dcterms:W3CDTF">2026-10-25T06:29:48Z</dcterms:modified>
</cp:coreProperties>
</file>